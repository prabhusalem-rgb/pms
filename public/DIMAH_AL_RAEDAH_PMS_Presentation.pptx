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38BDF8"/>
                </a:solidFill>
                <a:latin typeface="Outfit"/>
              </a:defRPr>
            </a:pPr>
            <a:r>
              <a:t>DIMAH AL RAEDAH SPC PMS</a:t>
            </a:r>
          </a:p>
          <a:p>
            <a:pPr algn="l">
              <a:spcBef>
                <a:spcPts val="1000"/>
              </a:spcBef>
              <a:defRPr sz="2200">
                <a:solidFill>
                  <a:srgbClr val="2DD4BF"/>
                </a:solidFill>
                <a:latin typeface="Outfit"/>
              </a:defRPr>
            </a:pPr>
            <a:r>
              <a:t>Oman-Compliant Construction Project Management System</a:t>
            </a:r>
          </a:p>
          <a:p>
            <a:pPr algn="l">
              <a:spcBef>
                <a:spcPts val="2400"/>
              </a:spcBef>
              <a:defRPr sz="1400">
                <a:solidFill>
                  <a:srgbClr val="94A3B8"/>
                </a:solidFill>
                <a:latin typeface="Outfit"/>
              </a:defRPr>
            </a:pPr>
            <a:r>
              <a:t>A comprehensive digital solution integrating Bill of Quantities (BOQ), Procurement, Site Inventory, Tasks Kanban, and progress billing claims.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Outfit"/>
              </a:defRPr>
            </a:pPr>
            <a:r>
              <a:t>OPERATIONS CHALLENGES VS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EF4444"/>
                </a:solidFill>
                <a:latin typeface="Outfit"/>
              </a:defRPr>
            </a:pPr>
            <a:r>
              <a:t>Operational Challenges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Disconnected spreadsheets leading to frequent budget overruns.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Difficulty tracking material delivery notes &amp; stock receipts.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High wastage and material leakages on construction sites.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Complex Omani VAT calculations for milestone progress billing.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DD4BF"/>
                </a:solidFill>
                <a:latin typeface="Outfit"/>
              </a:defRPr>
            </a:pPr>
            <a:r>
              <a:t>The PMS Digital Solution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Unified operational lifecycle from estimate to jobsite execution.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Strict budgetary controls enforced at the PO line-item level.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Real-time site issue notes and material consumption audits.</a:t>
            </a:r>
          </a:p>
          <a:p>
            <a:pPr>
              <a:spcAft>
                <a:spcPts val="1000"/>
              </a:spcAft>
              <a:defRPr sz="1400">
                <a:solidFill>
                  <a:srgbClr val="F8FAFC"/>
                </a:solidFill>
                <a:latin typeface="Outfit"/>
              </a:defRPr>
            </a:pPr>
            <a:r>
              <a:t>• Automated VAT records and claim certifications.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Outfit"/>
              </a:defRPr>
            </a:pPr>
            <a:r>
              <a:t>OPERATIONAL CLOSED-LOOP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System Operational Workflow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  <a:latin typeface="Outfit"/>
              </a:defRPr>
            </a:pPr>
            <a:r>
              <a:t>1. BOQ Baseline Setup: </a:t>
            </a:r>
            <a:r>
              <a:rPr sz="1400" b="0">
                <a:solidFill>
                  <a:srgbClr val="F8FAFC"/>
                </a:solidFill>
                <a:latin typeface="Outfit"/>
              </a:rPr>
              <a:t>Define planned quantities, sections, and unit rates as the cost baseline.</a:t>
            </a:r>
          </a:p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  <a:latin typeface="Outfit"/>
              </a:defRPr>
            </a:pPr>
            <a:r>
              <a:t>2. Procurement Validation: </a:t>
            </a:r>
            <a:r>
              <a:rPr sz="1400" b="0">
                <a:solidFill>
                  <a:srgbClr val="F8FAFC"/>
                </a:solidFill>
                <a:latin typeface="Outfit"/>
              </a:rPr>
              <a:t>Issue Purchase Orders mapped to BOQ codes; validations prevent budget overruns.</a:t>
            </a:r>
          </a:p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  <a:latin typeface="Outfit"/>
              </a:defRPr>
            </a:pPr>
            <a:r>
              <a:t>3. Goods Receipt Note (GRN): </a:t>
            </a:r>
            <a:r>
              <a:rPr sz="1400" b="0">
                <a:solidFill>
                  <a:srgbClr val="F8FAFC"/>
                </a:solidFill>
                <a:latin typeface="Outfit"/>
              </a:rPr>
              <a:t>Acknowledge physical materials on site; log delivery notes and capture scanned copies.</a:t>
            </a:r>
          </a:p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  <a:latin typeface="Outfit"/>
              </a:defRPr>
            </a:pPr>
            <a:r>
              <a:t>4. Material Issue Notes: </a:t>
            </a:r>
            <a:r>
              <a:rPr sz="1400" b="0">
                <a:solidFill>
                  <a:srgbClr val="F8FAFC"/>
                </a:solidFill>
                <a:latin typeface="Outfit"/>
              </a:rPr>
              <a:t>Track consumption and wastage at location levels; update stock balances.</a:t>
            </a:r>
          </a:p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  <a:latin typeface="Outfit"/>
              </a:defRPr>
            </a:pPr>
            <a:r>
              <a:t>5. Stock Ledger Verification: </a:t>
            </a:r>
            <a:r>
              <a:rPr sz="1400" b="0">
                <a:solidFill>
                  <a:srgbClr val="F8FAFC"/>
                </a:solidFill>
                <a:latin typeface="Outfit"/>
              </a:rPr>
              <a:t>Real-time auditing: Received Qty - Consumed Qty = Available Stock Balance.</a:t>
            </a:r>
          </a:p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  <a:latin typeface="Outfit"/>
              </a:defRPr>
            </a:pPr>
            <a:r>
              <a:t>6. Milestone Revenue Claims: </a:t>
            </a:r>
            <a:r>
              <a:rPr sz="1400" b="0">
                <a:solidFill>
                  <a:srgbClr val="F8FAFC"/>
                </a:solidFill>
                <a:latin typeface="Outfit"/>
              </a:rPr>
              <a:t>Generate VAT progress claim invoices mapped to client contracted milestones.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Outfit"/>
              </a:defRPr>
            </a:pPr>
            <a:r>
              <a:t>BUILT FOR OMANI CONSTRUCTION STANDARDS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Oman Regulatory Compliance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1600"/>
              </a:spcAft>
              <a:defRPr sz="1800" b="1">
                <a:solidFill>
                  <a:srgbClr val="FBBF24"/>
                </a:solidFill>
                <a:latin typeface="Outfit"/>
              </a:defRPr>
            </a:pPr>
            <a:r>
              <a:t>🇴🇲  Standard 5.00% VAT Configuration</a:t>
            </a:r>
            <a:br/>
            <a:r>
              <a:rPr sz="1400" b="0">
                <a:solidFill>
                  <a:srgbClr val="F8FAFC"/>
                </a:solidFill>
                <a:latin typeface="Outfit"/>
              </a:rPr>
              <a:t>Tax logic is automatically embedded within all Purchase Orders, GRNs, and milestone progress claims, outputting clean Omani tax audit ledgers.</a:t>
            </a:r>
          </a:p>
          <a:p>
            <a:pPr>
              <a:spcBef>
                <a:spcPts val="1000"/>
              </a:spcBef>
              <a:spcAft>
                <a:spcPts val="1600"/>
              </a:spcAft>
              <a:defRPr sz="1800" b="1">
                <a:solidFill>
                  <a:srgbClr val="FBBF24"/>
                </a:solidFill>
                <a:latin typeface="Outfit"/>
              </a:defRPr>
            </a:pPr>
            <a:r>
              <a:t>🇴🇲  Rial Omani (OMR) Precision</a:t>
            </a:r>
            <a:br/>
            <a:r>
              <a:rPr sz="1400" b="0">
                <a:solidFill>
                  <a:srgbClr val="F8FAFC"/>
                </a:solidFill>
                <a:latin typeface="Outfit"/>
              </a:rPr>
              <a:t>All mathematical calculations strictly support Omani currency standards with 3-decimal place precision (e.g. OMR 15,250.450) to prevent rounding leakage.</a:t>
            </a:r>
          </a:p>
          <a:p>
            <a:pPr>
              <a:spcBef>
                <a:spcPts val="1000"/>
              </a:spcBef>
              <a:spcAft>
                <a:spcPts val="1600"/>
              </a:spcAft>
              <a:defRPr sz="1800" b="1">
                <a:solidFill>
                  <a:srgbClr val="FBBF24"/>
                </a:solidFill>
                <a:latin typeface="Outfit"/>
              </a:defRPr>
            </a:pPr>
            <a:r>
              <a:t>🇴🇲  CR &amp; VAT Registration Logs</a:t>
            </a:r>
            <a:br/>
            <a:r>
              <a:rPr sz="1400" b="0">
                <a:solidFill>
                  <a:srgbClr val="F8FAFC"/>
                </a:solidFill>
                <a:latin typeface="Outfit"/>
              </a:rPr>
              <a:t>Centralized commercial registration (CR) and VAT directory of suppliers and subcontractors to ensure invoice credibility before issuing payments.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Outfit"/>
              </a:defRPr>
            </a:pPr>
            <a:r>
              <a:t>COST CONTROL VS 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Dual BOQ &amp; Milestone Claims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1600" b="1">
                <a:solidFill>
                  <a:srgbClr val="F8FAFC"/>
                </a:solidFill>
                <a:latin typeface="Outfit"/>
              </a:defRPr>
            </a:pPr>
            <a:r>
              <a:t>Mapping cost centers directly to billing milestones creates a transparent operations overview:</a:t>
            </a:r>
          </a:p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  <a:latin typeface="Outfit"/>
              </a:defRPr>
            </a:pPr>
            <a:r>
              <a:t>• Internal BOQ (Cost Control): </a:t>
            </a:r>
            <a:r>
              <a:rPr sz="1400">
                <a:solidFill>
                  <a:srgbClr val="F8FAFC"/>
                </a:solidFill>
                <a:latin typeface="Outfit"/>
              </a:rPr>
              <a:t>Tracks granular material costs, labor hours, and subcontracts for the jobsite.</a:t>
            </a:r>
          </a:p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  <a:latin typeface="Outfit"/>
              </a:defRPr>
            </a:pPr>
            <a:r>
              <a:t>• Client BOQ (Revenue Claims): </a:t>
            </a:r>
            <a:r>
              <a:rPr sz="1400">
                <a:solidFill>
                  <a:srgbClr val="F8FAFC"/>
                </a:solidFill>
                <a:latin typeface="Outfit"/>
              </a:rPr>
              <a:t>Reflects the master contract billing schedule and progress milestones.</a:t>
            </a:r>
          </a:p>
          <a:p>
            <a:pPr>
              <a:spcAft>
                <a:spcPts val="1200"/>
              </a:spcAft>
              <a:defRPr sz="1500" b="1">
                <a:solidFill>
                  <a:srgbClr val="38BDF8"/>
                </a:solidFill>
                <a:latin typeface="Outfit"/>
              </a:defRPr>
            </a:pPr>
            <a:r>
              <a:t>• Weight-Based Allocation: </a:t>
            </a:r>
            <a:r>
              <a:rPr sz="1400">
                <a:solidFill>
                  <a:srgbClr val="F8FAFC"/>
                </a:solidFill>
                <a:latin typeface="Outfit"/>
              </a:rPr>
              <a:t>Enables mapping multiple internal cost items to client billables to calculate progress percentages dynamically.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Outfit"/>
              </a:defRPr>
            </a:pPr>
            <a:r>
              <a:t>AGILE JOBSITE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Daily Tasks Coordination &amp; Kanban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1200"/>
              </a:spcAft>
              <a:defRPr sz="1600" b="1">
                <a:solidFill>
                  <a:srgbClr val="2DD4BF"/>
                </a:solidFill>
                <a:latin typeface="Outfit"/>
              </a:defRPr>
            </a:pPr>
            <a:r>
              <a:t>📋 Interactive Kanban View</a:t>
            </a:r>
            <a:br/>
            <a:r>
              <a:rPr sz="1400">
                <a:solidFill>
                  <a:srgbClr val="F8FAFC"/>
                </a:solidFill>
                <a:latin typeface="Outfit"/>
              </a:rPr>
              <a:t>Visual drag-and-drop workspace categorizing jobsite tasks under To Do, In Progress, Review, and Completed lanes.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600" b="1">
                <a:solidFill>
                  <a:srgbClr val="2DD4BF"/>
                </a:solidFill>
                <a:latin typeface="Outfit"/>
              </a:defRPr>
            </a:pPr>
            <a:r>
              <a:t>📋 BOQ Reference Linking</a:t>
            </a:r>
            <a:br/>
            <a:r>
              <a:rPr sz="1400">
                <a:solidFill>
                  <a:srgbClr val="F8FAFC"/>
                </a:solidFill>
                <a:latin typeface="Outfit"/>
              </a:rPr>
              <a:t>Binds tasks to specific baseline BOQ items, linking physical progress to estimated line items.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600" b="1">
                <a:solidFill>
                  <a:srgbClr val="2DD4BF"/>
                </a:solidFill>
                <a:latin typeface="Outfit"/>
              </a:defRPr>
            </a:pPr>
            <a:r>
              <a:t>📋 Hour &amp; Progress Logging</a:t>
            </a:r>
            <a:br/>
            <a:r>
              <a:rPr sz="1400">
                <a:solidFill>
                  <a:srgbClr val="F8FAFC"/>
                </a:solidFill>
                <a:latin typeface="Outfit"/>
              </a:rPr>
              <a:t>Enables engineers to log estimated vs. actual hours and slide progress percentages on site.</a:t>
            </a:r>
          </a:p>
          <a:p>
            <a:pPr>
              <a:spcBef>
                <a:spcPts val="800"/>
              </a:spcBef>
              <a:spcAft>
                <a:spcPts val="1200"/>
              </a:spcAft>
              <a:defRPr sz="1600" b="1">
                <a:solidFill>
                  <a:srgbClr val="2DD4BF"/>
                </a:solidFill>
                <a:latin typeface="Outfit"/>
              </a:defRPr>
            </a:pPr>
            <a:r>
              <a:t>📋 Dashboard Live Widget</a:t>
            </a:r>
            <a:br/>
            <a:r>
              <a:rPr sz="1400">
                <a:solidFill>
                  <a:srgbClr val="F8FAFC"/>
                </a:solidFill>
                <a:latin typeface="Outfit"/>
              </a:rPr>
              <a:t>Integrates task columns directly into the main Dashboard portal for management overview.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Outfit"/>
              </a:defRPr>
            </a:pPr>
            <a:r>
              <a:t>SYSTEM INTEGRITY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Outfit"/>
              </a:defRPr>
            </a:pPr>
            <a:r>
              <a:t>Auditing, Security &amp; Access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 b="1">
                <a:solidFill>
                  <a:srgbClr val="FBBF24"/>
                </a:solidFill>
                <a:latin typeface="Outfit"/>
              </a:defRPr>
            </a:pPr>
            <a:r>
              <a:t>🔒 Role-Based Access (RBAC): </a:t>
            </a:r>
            <a:r>
              <a:rPr sz="1400">
                <a:solidFill>
                  <a:srgbClr val="F8FAFC"/>
                </a:solidFill>
                <a:latin typeface="Outfit"/>
              </a:rPr>
              <a:t>Defines separation of duties (Admin, Purchase, Site Engineer). Users only see and edit permitted sections.</a:t>
            </a:r>
          </a:p>
          <a:p>
            <a:pPr>
              <a:spcAft>
                <a:spcPts val="1400"/>
              </a:spcAft>
              <a:defRPr sz="1500" b="1">
                <a:solidFill>
                  <a:srgbClr val="FBBF24"/>
                </a:solidFill>
                <a:latin typeface="Outfit"/>
              </a:defRPr>
            </a:pPr>
            <a:r>
              <a:t>🔒 Transaction Activity Logs: </a:t>
            </a:r>
            <a:r>
              <a:rPr sz="1400">
                <a:solidFill>
                  <a:srgbClr val="F8FAFC"/>
                </a:solidFill>
                <a:latin typeface="Outfit"/>
              </a:rPr>
              <a:t>Every write transaction records changes (before/after states), ticket references, timestamps, and usernames in an audit database.</a:t>
            </a:r>
          </a:p>
          <a:p>
            <a:pPr>
              <a:spcAft>
                <a:spcPts val="1400"/>
              </a:spcAft>
              <a:defRPr sz="1500" b="1">
                <a:solidFill>
                  <a:srgbClr val="FBBF24"/>
                </a:solidFill>
                <a:latin typeface="Outfit"/>
              </a:defRPr>
            </a:pPr>
            <a:r>
              <a:t>🔒 Audit Screenshot Attachments: </a:t>
            </a:r>
            <a:r>
              <a:rPr sz="1400">
                <a:solidFill>
                  <a:srgbClr val="F8FAFC"/>
                </a:solidFill>
                <a:latin typeface="Outfit"/>
              </a:rPr>
              <a:t>Saves verification screenshots and rollbacks guidelines to guarantee accountability.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